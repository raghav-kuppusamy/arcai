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  <p:sldMasterId id="214748366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embeddedFontLst>
    <p:embeddedFont>
      <p:font typeface="Helvetica Neue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HelveticaNeue-bold.fntdata"/><Relationship Id="rId16" Type="http://schemas.openxmlformats.org/officeDocument/2006/relationships/font" Target="fonts/HelveticaNeue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HelveticaNeue-boldItalic.fntdata"/><Relationship Id="rId6" Type="http://schemas.openxmlformats.org/officeDocument/2006/relationships/slideMaster" Target="slideMasters/slideMaster3.xml"/><Relationship Id="rId18" Type="http://schemas.openxmlformats.org/officeDocument/2006/relationships/font" Target="fonts/HelveticaNeue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e09874352_4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ce09874352_4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e09874352_0_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ce09874352_0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e09874352_2_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ce09874352_2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e09874352_2_1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ce09874352_2_1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e09874352_4_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ce09874352_4_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ce09874352_2_1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ce09874352_2_1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ce09874352_2_2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ce09874352_2_2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e09874352_4_1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ce09874352_4_1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/>
        </p:nvSpPr>
        <p:spPr>
          <a:xfrm>
            <a:off x="502919" y="632598"/>
            <a:ext cx="4937762" cy="1203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800"/>
              <a:buFont typeface="Calibri"/>
              <a:buNone/>
            </a:pPr>
            <a:r>
              <a:rPr b="1" i="0" lang="en-GB" sz="8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Arc</a:t>
            </a:r>
            <a:r>
              <a:rPr b="1" i="0" lang="en-GB" sz="88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548639" y="1987893"/>
            <a:ext cx="6309361" cy="340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2000"/>
              <a:buFont typeface="Calibri"/>
              <a:buNone/>
            </a:pPr>
            <a:r>
              <a:rPr b="0" i="0" lang="en-GB" sz="200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Project Intelligence Platform</a:t>
            </a:r>
            <a:endParaRPr/>
          </a:p>
        </p:txBody>
      </p:sp>
      <p:sp>
        <p:nvSpPr>
          <p:cNvPr id="68" name="Google Shape;68;p17"/>
          <p:cNvSpPr/>
          <p:nvPr/>
        </p:nvSpPr>
        <p:spPr>
          <a:xfrm>
            <a:off x="502919" y="2514600"/>
            <a:ext cx="5029201" cy="27432"/>
          </a:xfrm>
          <a:prstGeom prst="rect">
            <a:avLst/>
          </a:prstGeom>
          <a:solidFill>
            <a:srgbClr val="D0D8F0"/>
          </a:solidFill>
          <a:ln cap="flat" cmpd="sng" w="12700">
            <a:solidFill>
              <a:srgbClr val="D0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7"/>
          <p:cNvSpPr/>
          <p:nvPr/>
        </p:nvSpPr>
        <p:spPr>
          <a:xfrm>
            <a:off x="457200" y="2633472"/>
            <a:ext cx="54864" cy="47548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7"/>
          <p:cNvSpPr txBox="1"/>
          <p:nvPr/>
        </p:nvSpPr>
        <p:spPr>
          <a:xfrm>
            <a:off x="704088" y="2648836"/>
            <a:ext cx="7223761" cy="444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GB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GALACTIC OVERLORDS</a:t>
            </a:r>
            <a:endParaRPr/>
          </a:p>
        </p:txBody>
      </p:sp>
      <p:sp>
        <p:nvSpPr>
          <p:cNvPr id="71" name="Google Shape;71;p17"/>
          <p:cNvSpPr/>
          <p:nvPr/>
        </p:nvSpPr>
        <p:spPr>
          <a:xfrm>
            <a:off x="502919" y="3328415"/>
            <a:ext cx="164593" cy="164593"/>
          </a:xfrm>
          <a:prstGeom prst="ellipse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7"/>
          <p:cNvSpPr txBox="1"/>
          <p:nvPr/>
        </p:nvSpPr>
        <p:spPr>
          <a:xfrm>
            <a:off x="804671" y="3281611"/>
            <a:ext cx="3383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Sathya </a:t>
            </a:r>
            <a:r>
              <a:rPr lang="en-GB" sz="13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Bojarajan</a:t>
            </a:r>
            <a:endParaRPr/>
          </a:p>
        </p:txBody>
      </p:sp>
      <p:sp>
        <p:nvSpPr>
          <p:cNvPr id="73" name="Google Shape;73;p17"/>
          <p:cNvSpPr/>
          <p:nvPr/>
        </p:nvSpPr>
        <p:spPr>
          <a:xfrm>
            <a:off x="4343399" y="3328415"/>
            <a:ext cx="164594" cy="164593"/>
          </a:xfrm>
          <a:prstGeom prst="ellipse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7"/>
          <p:cNvSpPr txBox="1"/>
          <p:nvPr/>
        </p:nvSpPr>
        <p:spPr>
          <a:xfrm>
            <a:off x="4645152" y="3281611"/>
            <a:ext cx="3383281" cy="25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Raghavan Kuppusamy</a:t>
            </a:r>
            <a:endParaRPr/>
          </a:p>
        </p:txBody>
      </p:sp>
      <p:sp>
        <p:nvSpPr>
          <p:cNvPr id="75" name="Google Shape;75;p17"/>
          <p:cNvSpPr/>
          <p:nvPr/>
        </p:nvSpPr>
        <p:spPr>
          <a:xfrm>
            <a:off x="502919" y="3895344"/>
            <a:ext cx="164593" cy="164593"/>
          </a:xfrm>
          <a:prstGeom prst="ellipse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804671" y="3848538"/>
            <a:ext cx="3383282" cy="25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Aravind Nellissery Sivaramakrishnan</a:t>
            </a:r>
            <a:endParaRPr/>
          </a:p>
        </p:txBody>
      </p:sp>
      <p:sp>
        <p:nvSpPr>
          <p:cNvPr id="77" name="Google Shape;77;p17"/>
          <p:cNvSpPr/>
          <p:nvPr/>
        </p:nvSpPr>
        <p:spPr>
          <a:xfrm>
            <a:off x="4343399" y="3895344"/>
            <a:ext cx="164594" cy="164593"/>
          </a:xfrm>
          <a:prstGeom prst="ellipse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4645152" y="3848538"/>
            <a:ext cx="3383281" cy="25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Rajalingam Pachaikili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/>
          <p:nvPr/>
        </p:nvSpPr>
        <p:spPr>
          <a:xfrm>
            <a:off x="0" y="-1"/>
            <a:ext cx="9144000" cy="366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8"/>
          <p:cNvSpPr txBox="1"/>
          <p:nvPr/>
        </p:nvSpPr>
        <p:spPr>
          <a:xfrm>
            <a:off x="502919" y="201555"/>
            <a:ext cx="8138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900"/>
              <a:buFont typeface="Helvetica Neue"/>
              <a:buNone/>
            </a:pPr>
            <a:r>
              <a:rPr b="1" i="0" lang="en-GB" sz="900" u="none" cap="none" strike="noStrike">
                <a:solidFill>
                  <a:srgbClr val="007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PROBLEM STATEMENT</a:t>
            </a:r>
            <a:endParaRPr/>
          </a:p>
        </p:txBody>
      </p:sp>
      <p:sp>
        <p:nvSpPr>
          <p:cNvPr id="85" name="Google Shape;85;p18"/>
          <p:cNvSpPr txBox="1"/>
          <p:nvPr/>
        </p:nvSpPr>
        <p:spPr>
          <a:xfrm>
            <a:off x="502919" y="410957"/>
            <a:ext cx="81381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000"/>
              <a:buFont typeface="Helvetica Neue"/>
              <a:buNone/>
            </a:pPr>
            <a:r>
              <a:rPr b="1" i="0" lang="en-GB" sz="30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Engineering teams fly blind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000"/>
              <a:buFont typeface="Helvetica Neue"/>
              <a:buNone/>
            </a:pPr>
            <a:r>
              <a:rPr b="1" i="0" lang="en-GB" sz="30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delivery risk.</a:t>
            </a:r>
            <a:endParaRPr/>
          </a:p>
        </p:txBody>
      </p:sp>
      <p:sp>
        <p:nvSpPr>
          <p:cNvPr id="86" name="Google Shape;86;p18"/>
          <p:cNvSpPr/>
          <p:nvPr/>
        </p:nvSpPr>
        <p:spPr>
          <a:xfrm>
            <a:off x="457200" y="1664207"/>
            <a:ext cx="4069200" cy="126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6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667511" y="1786381"/>
            <a:ext cx="3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⚡</a:t>
            </a:r>
            <a:endParaRPr/>
          </a:p>
        </p:txBody>
      </p:sp>
      <p:sp>
        <p:nvSpPr>
          <p:cNvPr id="88" name="Google Shape;88;p18"/>
          <p:cNvSpPr txBox="1"/>
          <p:nvPr/>
        </p:nvSpPr>
        <p:spPr>
          <a:xfrm>
            <a:off x="1078991" y="1818056"/>
            <a:ext cx="329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Helvetica Neue"/>
              <a:buNone/>
            </a:pPr>
            <a:r>
              <a:rPr b="1" i="0" lang="en-GB" sz="12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Unified Signal</a:t>
            </a:r>
            <a:endParaRPr/>
          </a:p>
        </p:txBody>
      </p:sp>
      <p:sp>
        <p:nvSpPr>
          <p:cNvPr id="89" name="Google Shape;89;p18"/>
          <p:cNvSpPr txBox="1"/>
          <p:nvPr/>
        </p:nvSpPr>
        <p:spPr>
          <a:xfrm>
            <a:off x="1078991" y="2228202"/>
            <a:ext cx="3291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000"/>
              <a:buFont typeface="Helvetica Neue"/>
              <a:buNone/>
            </a:pPr>
            <a:r>
              <a:rPr b="0" i="0" lang="en-GB" sz="1000" u="none" cap="none" strike="noStrike">
                <a:solidFill>
                  <a:srgbClr val="8686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Jira, GitHub, Jenkins &amp; ArgoCD data sits in silos — no correlated view of delivery health.</a:t>
            </a:r>
            <a:endParaRPr/>
          </a:p>
        </p:txBody>
      </p:sp>
      <p:sp>
        <p:nvSpPr>
          <p:cNvPr id="90" name="Google Shape;90;p18"/>
          <p:cNvSpPr/>
          <p:nvPr/>
        </p:nvSpPr>
        <p:spPr>
          <a:xfrm>
            <a:off x="4800600" y="1664207"/>
            <a:ext cx="4069200" cy="126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6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5010911" y="1846161"/>
            <a:ext cx="3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↘</a:t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5422391" y="1818056"/>
            <a:ext cx="329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Helvetica Neue"/>
              <a:buNone/>
            </a:pPr>
            <a:r>
              <a:rPr b="1" i="0" lang="en-GB" sz="12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Reactive Risk Management</a:t>
            </a:r>
            <a:endParaRPr/>
          </a:p>
        </p:txBody>
      </p:sp>
      <p:sp>
        <p:nvSpPr>
          <p:cNvPr id="93" name="Google Shape;93;p18"/>
          <p:cNvSpPr txBox="1"/>
          <p:nvPr/>
        </p:nvSpPr>
        <p:spPr>
          <a:xfrm>
            <a:off x="5422391" y="2228202"/>
            <a:ext cx="3291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000"/>
              <a:buFont typeface="Helvetica Neue"/>
              <a:buNone/>
            </a:pPr>
            <a:r>
              <a:rPr b="0" i="0" lang="en-GB" sz="1000" u="none" cap="none" strike="noStrike">
                <a:solidFill>
                  <a:srgbClr val="8686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Risks spotted after they hit. Bottlenecks found after they hurt.</a:t>
            </a: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457200" y="3081527"/>
            <a:ext cx="4069200" cy="126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6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667511" y="3203702"/>
            <a:ext cx="3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🔍</a:t>
            </a: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1078991" y="3235376"/>
            <a:ext cx="329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Helvetica Neue"/>
              <a:buNone/>
            </a:pPr>
            <a:r>
              <a:rPr b="1" i="0" lang="en-GB" sz="12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Manual Root-Cause Analysis</a:t>
            </a:r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1078991" y="3645522"/>
            <a:ext cx="3291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000"/>
              <a:buFont typeface="Helvetica Neue"/>
              <a:buNone/>
            </a:pPr>
            <a:r>
              <a:rPr b="0" i="0" lang="en-GB" sz="1000" u="none" cap="none" strike="noStrike">
                <a:solidFill>
                  <a:srgbClr val="8686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Blind until it breaks. Bottlenecks discovered in post-mortems, not prevented in planning.</a:t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4800600" y="3081527"/>
            <a:ext cx="4069200" cy="126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6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5010911" y="3203702"/>
            <a:ext cx="3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🔒</a:t>
            </a:r>
            <a:endParaRPr/>
          </a:p>
        </p:txBody>
      </p:sp>
      <p:sp>
        <p:nvSpPr>
          <p:cNvPr id="100" name="Google Shape;100;p18"/>
          <p:cNvSpPr txBox="1"/>
          <p:nvPr/>
        </p:nvSpPr>
        <p:spPr>
          <a:xfrm>
            <a:off x="5422391" y="3235376"/>
            <a:ext cx="329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Helvetica Neue"/>
              <a:buNone/>
            </a:pPr>
            <a:r>
              <a:rPr b="1" i="0" lang="en-GB" sz="12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Quality &amp; Security Blind Spots</a:t>
            </a:r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5422391" y="3645522"/>
            <a:ext cx="3291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000"/>
              <a:buFont typeface="Helvetica Neue"/>
              <a:buNone/>
            </a:pPr>
            <a:r>
              <a:rPr b="0" i="0" lang="en-GB" sz="1000" u="none" cap="none" strike="noStrike">
                <a:solidFill>
                  <a:srgbClr val="8686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CVEs and compliance gaps go undetected until they block a release or fail an audit.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/>
          <p:nvPr/>
        </p:nvSpPr>
        <p:spPr>
          <a:xfrm>
            <a:off x="0" y="-1"/>
            <a:ext cx="9144000" cy="36578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502919" y="201555"/>
            <a:ext cx="8138161" cy="227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6D6"/>
              </a:buClr>
              <a:buSzPts val="900"/>
              <a:buFont typeface="Helvetica Neue"/>
              <a:buNone/>
            </a:pPr>
            <a:r>
              <a:rPr b="1" i="0" lang="en-GB" sz="900" u="none" cap="none" strike="noStrike">
                <a:solidFill>
                  <a:srgbClr val="5856D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SOLUTION</a:t>
            </a:r>
            <a:endParaRPr/>
          </a:p>
        </p:txBody>
      </p:sp>
      <p:sp>
        <p:nvSpPr>
          <p:cNvPr id="108" name="Google Shape;108;p19"/>
          <p:cNvSpPr txBox="1"/>
          <p:nvPr/>
        </p:nvSpPr>
        <p:spPr>
          <a:xfrm>
            <a:off x="502919" y="407639"/>
            <a:ext cx="8138161" cy="1050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Helvetica Neue"/>
              <a:buNone/>
            </a:pPr>
            <a:r>
              <a:rPr b="1" i="0" lang="en-GB" sz="28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Five domain-specific AI agents,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800"/>
              <a:buFont typeface="Helvetica Neue"/>
              <a:buNone/>
            </a:pPr>
            <a:r>
              <a:rPr b="1" i="0" lang="en-GB" sz="28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unified platform.</a:t>
            </a:r>
            <a:endParaRPr/>
          </a:p>
        </p:txBody>
      </p:sp>
      <p:sp>
        <p:nvSpPr>
          <p:cNvPr id="109" name="Google Shape;109;p19"/>
          <p:cNvSpPr/>
          <p:nvPr/>
        </p:nvSpPr>
        <p:spPr>
          <a:xfrm>
            <a:off x="274319" y="1572767"/>
            <a:ext cx="1572770" cy="33101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274319" y="1572767"/>
            <a:ext cx="1572770" cy="54865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804672" y="1719072"/>
            <a:ext cx="512065" cy="512065"/>
          </a:xfrm>
          <a:prstGeom prst="ellipse">
            <a:avLst/>
          </a:prstGeom>
          <a:solidFill>
            <a:srgbClr val="007AFF">
              <a:alpha val="10196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850391" y="1751584"/>
            <a:ext cx="420625" cy="447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📅</a:t>
            </a:r>
            <a:endParaRPr/>
          </a:p>
        </p:txBody>
      </p:sp>
      <p:sp>
        <p:nvSpPr>
          <p:cNvPr id="113" name="Google Shape;113;p19"/>
          <p:cNvSpPr txBox="1"/>
          <p:nvPr/>
        </p:nvSpPr>
        <p:spPr>
          <a:xfrm>
            <a:off x="411479" y="2379212"/>
            <a:ext cx="1298450" cy="25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Helvetica Neue"/>
              <a:buNone/>
            </a:pPr>
            <a:r>
              <a:rPr b="1" i="0" lang="en-GB" sz="11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Planning</a:t>
            </a:r>
            <a:endParaRPr/>
          </a:p>
        </p:txBody>
      </p:sp>
      <p:sp>
        <p:nvSpPr>
          <p:cNvPr id="114" name="Google Shape;114;p19"/>
          <p:cNvSpPr txBox="1"/>
          <p:nvPr/>
        </p:nvSpPr>
        <p:spPr>
          <a:xfrm>
            <a:off x="411479" y="2854716"/>
            <a:ext cx="1298450" cy="380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007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</a:t>
            </a:r>
            <a:r>
              <a:rPr b="0" i="0" lang="en-GB" sz="800" u="none" cap="none" strike="noStrike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Sprint risks flagged before they hit</a:t>
            </a:r>
            <a:endParaRPr/>
          </a:p>
        </p:txBody>
      </p:sp>
      <p:sp>
        <p:nvSpPr>
          <p:cNvPr id="115" name="Google Shape;115;p19"/>
          <p:cNvSpPr txBox="1"/>
          <p:nvPr/>
        </p:nvSpPr>
        <p:spPr>
          <a:xfrm>
            <a:off x="411479" y="3476507"/>
            <a:ext cx="1298450" cy="3804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007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</a:t>
            </a:r>
            <a:r>
              <a:rPr b="0" i="0" lang="en-GB" sz="800" u="none" cap="none" strike="noStrike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Auto-Optimize: blockers fast-tracked</a:t>
            </a:r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411479" y="4098299"/>
            <a:ext cx="1298450" cy="380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007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</a:t>
            </a:r>
            <a:r>
              <a:rPr b="0" i="0" lang="en-GB" sz="800" u="none" cap="none" strike="noStrike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Apply Schedule live — one click</a:t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1993392" y="1572767"/>
            <a:ext cx="1572769" cy="33101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1993392" y="1572767"/>
            <a:ext cx="1572769" cy="54865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2523744" y="1719072"/>
            <a:ext cx="512065" cy="512065"/>
          </a:xfrm>
          <a:prstGeom prst="ellipse">
            <a:avLst/>
          </a:prstGeom>
          <a:solidFill>
            <a:srgbClr val="5856D6">
              <a:alpha val="10196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2569464" y="1751584"/>
            <a:ext cx="420625" cy="447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📝</a:t>
            </a:r>
            <a:endParaRPr/>
          </a:p>
        </p:txBody>
      </p:sp>
      <p:sp>
        <p:nvSpPr>
          <p:cNvPr id="121" name="Google Shape;121;p19"/>
          <p:cNvSpPr txBox="1"/>
          <p:nvPr/>
        </p:nvSpPr>
        <p:spPr>
          <a:xfrm>
            <a:off x="2130552" y="2379212"/>
            <a:ext cx="1298449" cy="25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Helvetica Neue"/>
              <a:buNone/>
            </a:pPr>
            <a:r>
              <a:rPr b="1" i="0" lang="en-GB" sz="11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Story Intelligence</a:t>
            </a:r>
            <a:endParaRPr/>
          </a:p>
        </p:txBody>
      </p:sp>
      <p:sp>
        <p:nvSpPr>
          <p:cNvPr id="122" name="Google Shape;122;p19"/>
          <p:cNvSpPr txBox="1"/>
          <p:nvPr/>
        </p:nvSpPr>
        <p:spPr>
          <a:xfrm>
            <a:off x="2130552" y="2854716"/>
            <a:ext cx="1298449" cy="380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856D6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5856D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</a:t>
            </a:r>
            <a:r>
              <a:rPr b="0" i="0" lang="en-GB" sz="800" u="none" cap="none" strike="noStrike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 early warning for blockers</a:t>
            </a:r>
            <a:endParaRPr/>
          </a:p>
        </p:txBody>
      </p:sp>
      <p:sp>
        <p:nvSpPr>
          <p:cNvPr id="123" name="Google Shape;123;p19"/>
          <p:cNvSpPr txBox="1"/>
          <p:nvPr/>
        </p:nvSpPr>
        <p:spPr>
          <a:xfrm>
            <a:off x="2130552" y="3476507"/>
            <a:ext cx="1298449" cy="3804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856D6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5856D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</a:t>
            </a:r>
            <a:r>
              <a:rPr b="0" i="0" lang="en-GB" sz="800" u="none" cap="none" strike="noStrike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Velocity-driven forecasts</a:t>
            </a:r>
            <a:endParaRPr/>
          </a:p>
        </p:txBody>
      </p:sp>
      <p:sp>
        <p:nvSpPr>
          <p:cNvPr id="124" name="Google Shape;124;p19"/>
          <p:cNvSpPr txBox="1"/>
          <p:nvPr/>
        </p:nvSpPr>
        <p:spPr>
          <a:xfrm>
            <a:off x="2130552" y="4098299"/>
            <a:ext cx="1298449" cy="380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856D6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5856D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</a:t>
            </a:r>
            <a:r>
              <a:rPr b="0" i="0" lang="en-GB" sz="800" u="none" cap="none" strike="noStrike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One-click sprint optimization</a:t>
            </a:r>
            <a:endParaRPr/>
          </a:p>
        </p:txBody>
      </p:sp>
      <p:sp>
        <p:nvSpPr>
          <p:cNvPr id="125" name="Google Shape;125;p19"/>
          <p:cNvSpPr/>
          <p:nvPr/>
        </p:nvSpPr>
        <p:spPr>
          <a:xfrm>
            <a:off x="3712464" y="1572767"/>
            <a:ext cx="1572769" cy="33101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3712464" y="1572767"/>
            <a:ext cx="1572769" cy="54865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4242815" y="1719072"/>
            <a:ext cx="512065" cy="512065"/>
          </a:xfrm>
          <a:prstGeom prst="ellipse">
            <a:avLst/>
          </a:prstGeom>
          <a:solidFill>
            <a:srgbClr val="FF3B30">
              <a:alpha val="10196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4288535" y="1751584"/>
            <a:ext cx="420625" cy="447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🛡️</a:t>
            </a: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3849623" y="2379212"/>
            <a:ext cx="1298450" cy="25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Helvetica Neue"/>
              <a:buNone/>
            </a:pPr>
            <a:r>
              <a:rPr b="1" i="0" lang="en-GB" sz="11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Guardrails</a:t>
            </a:r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3849623" y="2854716"/>
            <a:ext cx="1298450" cy="380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FF3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</a:t>
            </a:r>
            <a:r>
              <a:rPr b="0" i="0" lang="en-GB" sz="800" u="none" cap="none" strike="noStrike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ESLint, SonarQube, Fortify unified</a:t>
            </a:r>
            <a:endParaRPr/>
          </a:p>
        </p:txBody>
      </p:sp>
      <p:sp>
        <p:nvSpPr>
          <p:cNvPr id="131" name="Google Shape;131;p19"/>
          <p:cNvSpPr txBox="1"/>
          <p:nvPr/>
        </p:nvSpPr>
        <p:spPr>
          <a:xfrm>
            <a:off x="3849623" y="3386657"/>
            <a:ext cx="1298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FF3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</a:t>
            </a:r>
            <a:r>
              <a:rPr b="0" i="0" lang="en-GB" sz="800" u="none" cap="none" strike="noStrike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AI-prioritized fix sequence</a:t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3849625" y="4355773"/>
            <a:ext cx="1298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FF3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</a:t>
            </a:r>
            <a:r>
              <a:rPr b="0" i="0" lang="en-GB" sz="800" u="none" cap="none" strike="noStrike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Instant compliance report</a:t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5431535" y="1572767"/>
            <a:ext cx="1572769" cy="33101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5431535" y="1572767"/>
            <a:ext cx="1572769" cy="54865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5961888" y="1719072"/>
            <a:ext cx="512065" cy="512065"/>
          </a:xfrm>
          <a:prstGeom prst="ellipse">
            <a:avLst/>
          </a:prstGeom>
          <a:solidFill>
            <a:srgbClr val="FF9500">
              <a:alpha val="10196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6007608" y="1751584"/>
            <a:ext cx="420625" cy="447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🚀</a:t>
            </a:r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5568696" y="2379212"/>
            <a:ext cx="1298449" cy="25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Helvetica Neue"/>
              <a:buNone/>
            </a:pPr>
            <a:r>
              <a:rPr b="1" i="0" lang="en-GB" sz="11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Deployment</a:t>
            </a: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5534409" y="2812278"/>
            <a:ext cx="1298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FF95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</a:t>
            </a:r>
            <a:r>
              <a:rPr b="0" i="0" lang="en-GB" sz="800" u="none" cap="none" strike="noStrike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End-to-end Dev → QA → UAT → Prod</a:t>
            </a:r>
            <a:endParaRPr/>
          </a:p>
        </p:txBody>
      </p:sp>
      <p:sp>
        <p:nvSpPr>
          <p:cNvPr id="139" name="Google Shape;139;p19"/>
          <p:cNvSpPr txBox="1"/>
          <p:nvPr/>
        </p:nvSpPr>
        <p:spPr>
          <a:xfrm>
            <a:off x="5534409" y="3325207"/>
            <a:ext cx="1298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FF95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</a:t>
            </a:r>
            <a:r>
              <a:rPr lang="en-GB" sz="8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 deployment readiness check</a:t>
            </a: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5534409" y="4355774"/>
            <a:ext cx="1298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FF95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</a:t>
            </a:r>
            <a:r>
              <a:rPr b="0" i="0" lang="en-GB" sz="800" u="none" cap="none" strike="noStrike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Pre-generated rollback strategy</a:t>
            </a:r>
            <a:endParaRPr/>
          </a:p>
        </p:txBody>
      </p:sp>
      <p:sp>
        <p:nvSpPr>
          <p:cNvPr id="141" name="Google Shape;141;p19"/>
          <p:cNvSpPr/>
          <p:nvPr/>
        </p:nvSpPr>
        <p:spPr>
          <a:xfrm>
            <a:off x="7150607" y="1572767"/>
            <a:ext cx="1572769" cy="33101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7150607" y="1572767"/>
            <a:ext cx="1572769" cy="54865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7680959" y="1719072"/>
            <a:ext cx="512065" cy="512065"/>
          </a:xfrm>
          <a:prstGeom prst="ellipse">
            <a:avLst/>
          </a:prstGeom>
          <a:solidFill>
            <a:srgbClr val="34C759">
              <a:alpha val="10196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7726679" y="1751584"/>
            <a:ext cx="420625" cy="447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🔎</a:t>
            </a:r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7287767" y="2379212"/>
            <a:ext cx="1298449" cy="2524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Helvetica Neue"/>
              <a:buNone/>
            </a:pPr>
            <a:r>
              <a:rPr b="1" i="0" lang="en-GB" sz="11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Bottlenecks</a:t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7287767" y="2854716"/>
            <a:ext cx="129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34C7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</a:t>
            </a:r>
            <a:r>
              <a:rPr lang="en-GB" sz="8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Analyse bottlenecks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7287767" y="3476507"/>
            <a:ext cx="129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34C7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</a:t>
            </a:r>
            <a:r>
              <a:rPr lang="en-GB" sz="8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Predict </a:t>
            </a:r>
            <a:r>
              <a:rPr b="0" i="0" lang="en-GB" sz="800" u="none" cap="none" strike="noStrike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delivery impact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7287767" y="4180535"/>
            <a:ext cx="129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34C7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</a:t>
            </a:r>
            <a:r>
              <a:rPr lang="en-GB" sz="8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Bottlenecks fix plans</a:t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0" y="4846320"/>
            <a:ext cx="9144000" cy="297181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502919" y="4876936"/>
            <a:ext cx="8138161" cy="23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6D6"/>
              </a:buClr>
              <a:buSzPts val="900"/>
              <a:buFont typeface="Helvetica Neue"/>
              <a:buNone/>
            </a:pPr>
            <a:r>
              <a:rPr b="0" i="0" lang="en-GB" sz="900" u="none" cap="none" strike="noStrike">
                <a:solidFill>
                  <a:srgbClr val="5856D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agent:  webhook ingestion  →  rules engine  →  evidence-grounded LLM  →  actionable insight  →  UI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5568721" y="3840482"/>
            <a:ext cx="1298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FF95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</a:t>
            </a:r>
            <a:r>
              <a:rPr b="0" i="0" lang="en-GB" sz="800" u="none" cap="none" strike="noStrike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Optimal deploy time — data driven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3849638" y="3951323"/>
            <a:ext cx="129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800"/>
              <a:buFont typeface="Helvetica Neue"/>
              <a:buNone/>
            </a:pPr>
            <a:r>
              <a:rPr b="1" i="0" lang="en-GB" sz="800" u="none" cap="none" strike="noStrike">
                <a:solidFill>
                  <a:srgbClr val="FF3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</a:t>
            </a:r>
            <a:r>
              <a:rPr lang="en-GB" sz="80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 security audit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/>
          <p:nvPr/>
        </p:nvSpPr>
        <p:spPr>
          <a:xfrm>
            <a:off x="0" y="-1"/>
            <a:ext cx="9144000" cy="3657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502919" y="201555"/>
            <a:ext cx="8138161" cy="227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1E3"/>
              </a:buClr>
              <a:buSzPts val="900"/>
              <a:buFont typeface="Helvetica Neue"/>
              <a:buNone/>
            </a:pPr>
            <a:r>
              <a:rPr b="1" i="0" lang="en-GB" sz="900" u="none" cap="none" strike="noStrike">
                <a:solidFill>
                  <a:srgbClr val="0071E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IMPLEMENTATION</a:t>
            </a:r>
            <a:endParaRPr/>
          </a:p>
        </p:txBody>
      </p:sp>
      <p:sp>
        <p:nvSpPr>
          <p:cNvPr id="159" name="Google Shape;159;p20"/>
          <p:cNvSpPr txBox="1"/>
          <p:nvPr/>
        </p:nvSpPr>
        <p:spPr>
          <a:xfrm>
            <a:off x="502919" y="501498"/>
            <a:ext cx="81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400"/>
              <a:buFont typeface="Helvetica Neue"/>
              <a:buNone/>
            </a:pPr>
            <a:r>
              <a:rPr b="1" i="0" lang="en-GB" sz="24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ingestion to </a:t>
            </a:r>
            <a:r>
              <a:rPr b="1" lang="en-GB" sz="2400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intelligence</a:t>
            </a:r>
            <a:r>
              <a:rPr b="1" i="0" lang="en-GB" sz="24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&lt; 30 seconds</a:t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320039" y="1115567"/>
            <a:ext cx="4160522" cy="111556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320040" y="1115567"/>
            <a:ext cx="54865" cy="1115569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530351" y="1193800"/>
            <a:ext cx="292609" cy="447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🔒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923544" y="1245355"/>
            <a:ext cx="3383280" cy="161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Helvetica Neue"/>
              <a:buNone/>
            </a:pPr>
            <a:r>
              <a:rPr b="1" i="0" lang="en-GB" sz="11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Multi-tenancy &amp; Security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923544" y="1577980"/>
            <a:ext cx="3383280" cy="465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8686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Subdomain routing · Postgres RLS · Per-tenant Redis namespacing · AES-256-GCM secrets · PKCE S256 · Cloudflare WAF · SCIM auto-provisioning</a:t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4727447" y="1115567"/>
            <a:ext cx="4160521" cy="111556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727447" y="1115567"/>
            <a:ext cx="54865" cy="1115569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937760" y="1193800"/>
            <a:ext cx="292609" cy="447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🧠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5330952" y="1245355"/>
            <a:ext cx="3383281" cy="161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Helvetica Neue"/>
              <a:buNone/>
            </a:pPr>
            <a:r>
              <a:rPr b="1" i="0" lang="en-GB" sz="11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/ LLM Pipeline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5330952" y="1577980"/>
            <a:ext cx="3383281" cy="465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8686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Always async — zero UI latency · Evidence-first typed JSON packs · SHA-256 cache · GPT-4o + Claude fallback · Daily 500K token budget · Prompt cap 8K tokens</a:t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320039" y="2350007"/>
            <a:ext cx="4160522" cy="111556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320040" y="2350007"/>
            <a:ext cx="54865" cy="1115569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30351" y="2428239"/>
            <a:ext cx="292609" cy="447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🗄️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923544" y="2479795"/>
            <a:ext cx="3383280" cy="161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Helvetica Neue"/>
              <a:buNone/>
            </a:pPr>
            <a:r>
              <a:rPr b="1" i="0" lang="en-GB" sz="11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Model &amp; Vector Store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923544" y="2812419"/>
            <a:ext cx="3383280" cy="465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8686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PostgreSQL 16 + pgvector · work_items, pull_requests, deployments, insights, llm_runs · Full audit log · text-embedding-3-small for semantic dedup</a:t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4727447" y="2350007"/>
            <a:ext cx="4160521" cy="111556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4727447" y="2350007"/>
            <a:ext cx="54865" cy="1115569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937760" y="2428239"/>
            <a:ext cx="292609" cy="447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🖥️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5330952" y="2479795"/>
            <a:ext cx="3383281" cy="161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Helvetica Neue"/>
              <a:buNone/>
            </a:pPr>
            <a:r>
              <a:rPr b="1" i="0" lang="en-GB" sz="11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Frontend &amp; UX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330952" y="2812419"/>
            <a:ext cx="3383281" cy="465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8686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React 18 + Vite + TypeScript · TailwindCSS 4 · TanStack Query v5 · 6-step AI Agent Modal · Recharts for DORA metrics · 401 intercept + session refresh</a:t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320039" y="3584447"/>
            <a:ext cx="4160522" cy="111556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320040" y="3584447"/>
            <a:ext cx="54865" cy="1115569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30351" y="3726180"/>
            <a:ext cx="29260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☁</a:t>
            </a:r>
            <a:r>
              <a:rPr b="0" i="0" lang="en-GB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️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923544" y="3714235"/>
            <a:ext cx="3383280" cy="161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Helvetica Neue"/>
              <a:buNone/>
            </a:pPr>
            <a:r>
              <a:rPr b="1" i="0" lang="en-GB" sz="11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Kubernetes &amp; Scale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923544" y="4132087"/>
            <a:ext cx="3383280" cy="2946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8686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API pods 3–10 HPA · worker-llm 1–4 HPA · webhook-receiver 2 fixed · Active-passive multi-region · PgBouncer at 100+ tenants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4727447" y="3584447"/>
            <a:ext cx="4160521" cy="111556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4727447" y="3584447"/>
            <a:ext cx="54865" cy="1115569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937760" y="3662680"/>
            <a:ext cx="292609" cy="447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🔄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5330952" y="3714235"/>
            <a:ext cx="3383281" cy="161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100"/>
              <a:buFont typeface="Helvetica Neue"/>
              <a:buNone/>
            </a:pPr>
            <a:r>
              <a:rPr b="1" i="0" lang="en-GB" sz="11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Migration Path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330952" y="4128498"/>
            <a:ext cx="3383281" cy="301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8686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Incremental: API layer → Auth gate → Mock shapes → Page-by-page wiring → Connect integrations → Enable LLM agents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/>
          <p:nvPr/>
        </p:nvSpPr>
        <p:spPr>
          <a:xfrm>
            <a:off x="137159" y="841247"/>
            <a:ext cx="8869682" cy="841249"/>
          </a:xfrm>
          <a:prstGeom prst="rect">
            <a:avLst/>
          </a:prstGeom>
          <a:solidFill>
            <a:srgbClr val="F7F9FF"/>
          </a:solidFill>
          <a:ln cap="flat" cmpd="sng" w="12700">
            <a:solidFill>
              <a:srgbClr val="E2E8F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137160" y="841247"/>
            <a:ext cx="45721" cy="841249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274319" y="987552"/>
            <a:ext cx="502921" cy="182881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274319" y="1006347"/>
            <a:ext cx="50292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-GB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1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877823" y="980607"/>
            <a:ext cx="1371601" cy="205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Clients &amp; Integrations</a:t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2194560" y="932688"/>
            <a:ext cx="2191513" cy="65836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2350008" y="974089"/>
            <a:ext cx="182881" cy="383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🌐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2651759" y="990127"/>
            <a:ext cx="1597154" cy="1960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Browser / SPA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2651759" y="1305972"/>
            <a:ext cx="1597154" cy="18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React 18 + Vite</a:t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4459223" y="932688"/>
            <a:ext cx="2191513" cy="65836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614672" y="974089"/>
            <a:ext cx="182881" cy="383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🔗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4916423" y="990127"/>
            <a:ext cx="1597153" cy="1960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Webhooks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4916423" y="1305972"/>
            <a:ext cx="1597153" cy="18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GitHub · Jira · Jenkins · ArgoCD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6723888" y="932688"/>
            <a:ext cx="2191513" cy="65836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6879336" y="974089"/>
            <a:ext cx="182881" cy="383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🔑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7181088" y="990127"/>
            <a:ext cx="1597153" cy="1960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Identity Providers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7181088" y="1305972"/>
            <a:ext cx="1597153" cy="18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Google · Okta · Azure AD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4343399" y="1634403"/>
            <a:ext cx="274321" cy="205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137159" y="1773935"/>
            <a:ext cx="8869682" cy="841249"/>
          </a:xfrm>
          <a:prstGeom prst="rect">
            <a:avLst/>
          </a:prstGeom>
          <a:solidFill>
            <a:srgbClr val="F7F9FF"/>
          </a:solidFill>
          <a:ln cap="flat" cmpd="sng" w="12700">
            <a:solidFill>
              <a:srgbClr val="E2E8F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137160" y="1773935"/>
            <a:ext cx="45721" cy="841249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274319" y="1920239"/>
            <a:ext cx="502921" cy="182881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274319" y="1939035"/>
            <a:ext cx="50292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-GB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2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877823" y="1913295"/>
            <a:ext cx="1371601" cy="205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Gateway &amp; Security</a:t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2194560" y="1865376"/>
            <a:ext cx="2191513" cy="65836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2350008" y="1906777"/>
            <a:ext cx="182881" cy="383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🛡️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2651759" y="1922815"/>
            <a:ext cx="1597154" cy="1960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CDN + Ingress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2651759" y="2238660"/>
            <a:ext cx="1597154" cy="18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Cloudflare · Nginx · TLS</a:t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4459223" y="1865376"/>
            <a:ext cx="2191513" cy="65836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614672" y="1906777"/>
            <a:ext cx="182881" cy="383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🔐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4916423" y="1922815"/>
            <a:ext cx="1597153" cy="1960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Auth &amp; Identity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4916423" y="2238660"/>
            <a:ext cx="1597153" cy="18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OIDC / SAML · PKCE · Redis Sessions</a:t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6723888" y="1865376"/>
            <a:ext cx="2191513" cy="65836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6879336" y="1906777"/>
            <a:ext cx="182881" cy="383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🏢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7181088" y="1922815"/>
            <a:ext cx="1597153" cy="1960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Tenant Isolation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7181088" y="2238660"/>
            <a:ext cx="1597153" cy="18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Slug routing · RLS · AES-256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4343399" y="2567091"/>
            <a:ext cx="274321" cy="205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137159" y="2706623"/>
            <a:ext cx="8869682" cy="841249"/>
          </a:xfrm>
          <a:prstGeom prst="rect">
            <a:avLst/>
          </a:prstGeom>
          <a:solidFill>
            <a:srgbClr val="F7F9FF"/>
          </a:solidFill>
          <a:ln cap="flat" cmpd="sng" w="12700">
            <a:solidFill>
              <a:srgbClr val="E2E8F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137160" y="2706623"/>
            <a:ext cx="45721" cy="841249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274319" y="2852927"/>
            <a:ext cx="502921" cy="182881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274319" y="2871723"/>
            <a:ext cx="50292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-GB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3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877823" y="2845983"/>
            <a:ext cx="1371601" cy="205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Intelligence &amp; Processing</a:t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2194560" y="2798064"/>
            <a:ext cx="2191513" cy="65836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2350008" y="2839466"/>
            <a:ext cx="182881" cy="383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⚡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2651759" y="2855503"/>
            <a:ext cx="1597154" cy="1960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Ingestion Pipeline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2651759" y="3171348"/>
            <a:ext cx="1597154" cy="18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Webhooks · BullMQ · &lt;20ms queue</a:t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4459223" y="2798064"/>
            <a:ext cx="2191513" cy="65836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614672" y="2839466"/>
            <a:ext cx="182881" cy="383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⚙️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4916423" y="2855503"/>
            <a:ext cx="1597153" cy="1960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Worker Pods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4916423" y="3171348"/>
            <a:ext cx="1597153" cy="18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Sync · Analytics · LLM</a:t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6723888" y="2798064"/>
            <a:ext cx="2191513" cy="65836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6879336" y="2839466"/>
            <a:ext cx="182881" cy="383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🤖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7181088" y="2855503"/>
            <a:ext cx="1597153" cy="1960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 AI Agents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7181088" y="3114198"/>
            <a:ext cx="1597153" cy="300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Planning · Story · Guardrails · Deploy · Bottleneck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4343399" y="3499778"/>
            <a:ext cx="274321" cy="20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137159" y="3639311"/>
            <a:ext cx="8869682" cy="841249"/>
          </a:xfrm>
          <a:prstGeom prst="rect">
            <a:avLst/>
          </a:prstGeom>
          <a:solidFill>
            <a:srgbClr val="F7F9FF"/>
          </a:solidFill>
          <a:ln cap="flat" cmpd="sng" w="12700">
            <a:solidFill>
              <a:srgbClr val="E2E8F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137160" y="3639311"/>
            <a:ext cx="45721" cy="841249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274319" y="3785615"/>
            <a:ext cx="502921" cy="182881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274319" y="3804412"/>
            <a:ext cx="50292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-GB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4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877823" y="3778671"/>
            <a:ext cx="1371601" cy="20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2194560" y="3730752"/>
            <a:ext cx="2191513" cy="65836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2350008" y="3772153"/>
            <a:ext cx="182881" cy="383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🗄️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2651759" y="3788191"/>
            <a:ext cx="1597154" cy="1960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PostgreSQL 16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2651759" y="4104036"/>
            <a:ext cx="1597154" cy="18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RLS · pgvector · Prisma ORM</a:t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4459223" y="3730752"/>
            <a:ext cx="2191513" cy="65836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4614672" y="3772153"/>
            <a:ext cx="182881" cy="383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⚡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4916423" y="3788191"/>
            <a:ext cx="1597153" cy="1960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Redis 7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4916423" y="4104036"/>
            <a:ext cx="1597153" cy="18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Sessions · BullMQ · Tenant isolation</a:t>
            </a:r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6723888" y="3730752"/>
            <a:ext cx="2191513" cy="65836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6879336" y="3772153"/>
            <a:ext cx="182881" cy="383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🧠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7181088" y="3788191"/>
            <a:ext cx="1597153" cy="1960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LLM Pipeline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7181088" y="4104036"/>
            <a:ext cx="1597153" cy="18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GPT-4o · Claude fallback · Audit log</a:t>
            </a:r>
            <a:endParaRPr/>
          </a:p>
        </p:txBody>
      </p:sp>
      <p:sp>
        <p:nvSpPr>
          <p:cNvPr id="265" name="Google Shape;265;p21"/>
          <p:cNvSpPr/>
          <p:nvPr/>
        </p:nvSpPr>
        <p:spPr>
          <a:xfrm>
            <a:off x="137159" y="4828032"/>
            <a:ext cx="8869682" cy="256033"/>
          </a:xfrm>
          <a:prstGeom prst="rect">
            <a:avLst/>
          </a:prstGeom>
          <a:solidFill>
            <a:srgbClr val="EEF2FF"/>
          </a:solidFill>
          <a:ln cap="flat" cmpd="sng" w="12700">
            <a:solidFill>
              <a:srgbClr val="D0D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457200" y="4803928"/>
            <a:ext cx="1920239" cy="176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Calibri"/>
              <a:buNone/>
            </a:pPr>
            <a:r>
              <a:rPr b="1" i="0" lang="en-GB" sz="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457200" y="4917852"/>
            <a:ext cx="1920239" cy="18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5C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2E3A5C"/>
                </a:solidFill>
                <a:latin typeface="Calibri"/>
                <a:ea typeface="Calibri"/>
                <a:cs typeface="Calibri"/>
                <a:sym typeface="Calibri"/>
              </a:rPr>
              <a:t>AES-256 · PKCE · RLS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2633471" y="4803928"/>
            <a:ext cx="1920240" cy="176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Calibri"/>
              <a:buNone/>
            </a:pPr>
            <a:r>
              <a:rPr b="1" i="0" lang="en-GB" sz="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2633471" y="4917852"/>
            <a:ext cx="1920240" cy="18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5C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2E3A5C"/>
                </a:solidFill>
                <a:latin typeface="Calibri"/>
                <a:ea typeface="Calibri"/>
                <a:cs typeface="Calibri"/>
                <a:sym typeface="Calibri"/>
              </a:rPr>
              <a:t>Kubernetes · HPA · Multi-region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4809743" y="4803928"/>
            <a:ext cx="1920240" cy="176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Calibri"/>
              <a:buNone/>
            </a:pPr>
            <a:r>
              <a:rPr b="1" i="0" lang="en-GB" sz="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OBSERVABILITY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4809743" y="4917852"/>
            <a:ext cx="1920240" cy="18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5C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2E3A5C"/>
                </a:solidFill>
                <a:latin typeface="Calibri"/>
                <a:ea typeface="Calibri"/>
                <a:cs typeface="Calibri"/>
                <a:sym typeface="Calibri"/>
              </a:rPr>
              <a:t>Grafana · Prometheus · Loki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6986015" y="4803928"/>
            <a:ext cx="1920240" cy="176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Calibri"/>
              <a:buNone/>
            </a:pPr>
            <a:r>
              <a:rPr b="1" i="0" lang="en-GB" sz="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6986015" y="4917852"/>
            <a:ext cx="1920240" cy="18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5C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2E3A5C"/>
                </a:solidFill>
                <a:latin typeface="Calibri"/>
                <a:ea typeface="Calibri"/>
                <a:cs typeface="Calibri"/>
                <a:sym typeface="Calibri"/>
              </a:rPr>
              <a:t>GPT-4o · Claude Fallback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502920" y="147079"/>
            <a:ext cx="8138160" cy="227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Helvetica Neue"/>
              <a:buNone/>
            </a:pPr>
            <a:r>
              <a:rPr b="1" i="0" lang="en-GB" sz="900" u="none" cap="none" strike="noStrike">
                <a:solidFill>
                  <a:srgbClr val="60A5F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ARCHITECTURE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437133" y="372873"/>
            <a:ext cx="6026405" cy="401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GB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Layers · 5 AI Agents · Multi-tenant · Kubernetes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/>
          <p:nvPr/>
        </p:nvSpPr>
        <p:spPr>
          <a:xfrm>
            <a:off x="0" y="-1"/>
            <a:ext cx="9144000" cy="36578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502919" y="151263"/>
            <a:ext cx="8138161" cy="227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900"/>
              <a:buFont typeface="Helvetica Neue"/>
              <a:buNone/>
            </a:pPr>
            <a:r>
              <a:rPr b="1" i="0" lang="en-GB" sz="900" u="none" cap="none" strike="noStrike">
                <a:solidFill>
                  <a:srgbClr val="007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USER IMPACT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502919" y="381242"/>
            <a:ext cx="8138161" cy="426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200"/>
              <a:buFont typeface="Helvetica Neue"/>
              <a:buNone/>
            </a:pPr>
            <a:r>
              <a:rPr b="1" i="0" lang="en-GB" sz="22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Arc AI changes for your team — today.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502919" y="830834"/>
            <a:ext cx="8138161" cy="240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868B"/>
              </a:buClr>
              <a:buSzPts val="1000"/>
              <a:buFont typeface="Helvetica Neue"/>
              <a:buNone/>
            </a:pPr>
            <a:r>
              <a:rPr b="0" i="0" lang="en-GB" sz="1000" u="none" cap="none" strike="noStrike">
                <a:solidFill>
                  <a:srgbClr val="86868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a reporting tool. Not another dashboard. A platform that tells you what to do — before things go wrong.</a:t>
            </a: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274319" y="1170432"/>
            <a:ext cx="4160522" cy="171907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274319" y="1170432"/>
            <a:ext cx="4160522" cy="36577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438912" y="1298447"/>
            <a:ext cx="438912" cy="438913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484632" y="1370584"/>
            <a:ext cx="347473" cy="29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⏱</a:t>
            </a: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️</a:t>
            </a:r>
            <a:endParaRPr/>
          </a:p>
        </p:txBody>
      </p:sp>
      <p:sp>
        <p:nvSpPr>
          <p:cNvPr id="288" name="Google Shape;288;p22"/>
          <p:cNvSpPr/>
          <p:nvPr/>
        </p:nvSpPr>
        <p:spPr>
          <a:xfrm>
            <a:off x="987552" y="1307591"/>
            <a:ext cx="1371601" cy="182881"/>
          </a:xfrm>
          <a:prstGeom prst="roundRect">
            <a:avLst>
              <a:gd fmla="val 3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987552" y="1335531"/>
            <a:ext cx="13716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007AFF"/>
                </a:solidFill>
                <a:latin typeface="Calibri"/>
                <a:ea typeface="Calibri"/>
                <a:cs typeface="Calibri"/>
                <a:sym typeface="Calibri"/>
              </a:rPr>
              <a:t>ENGINEERING MANAGERS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987552" y="1546505"/>
            <a:ext cx="2286001" cy="2354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AFF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rgbClr val="007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Hours saved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987552" y="1845817"/>
            <a:ext cx="2286001" cy="1488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Helvetica Neue"/>
              <a:buNone/>
            </a:pPr>
            <a:r>
              <a:rPr b="0" i="0" lang="en-GB" sz="10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week</a:t>
            </a:r>
            <a:endParaRPr/>
          </a:p>
        </p:txBody>
      </p:sp>
      <p:sp>
        <p:nvSpPr>
          <p:cNvPr id="292" name="Google Shape;292;p22"/>
          <p:cNvSpPr/>
          <p:nvPr/>
        </p:nvSpPr>
        <p:spPr>
          <a:xfrm>
            <a:off x="475487" y="2139695"/>
            <a:ext cx="54865" cy="54865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 txBox="1"/>
          <p:nvPr/>
        </p:nvSpPr>
        <p:spPr>
          <a:xfrm>
            <a:off x="585215" y="2094483"/>
            <a:ext cx="370332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more pulling data from five dashboards manually</a:t>
            </a:r>
            <a:endParaRPr/>
          </a:p>
        </p:txBody>
      </p:sp>
      <p:sp>
        <p:nvSpPr>
          <p:cNvPr id="294" name="Google Shape;294;p22"/>
          <p:cNvSpPr/>
          <p:nvPr/>
        </p:nvSpPr>
        <p:spPr>
          <a:xfrm>
            <a:off x="475487" y="2281427"/>
            <a:ext cx="54865" cy="54865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585215" y="2236216"/>
            <a:ext cx="370332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surfaces what needs attention before you look</a:t>
            </a:r>
            <a:endParaRPr/>
          </a:p>
        </p:txBody>
      </p:sp>
      <p:sp>
        <p:nvSpPr>
          <p:cNvPr id="296" name="Google Shape;296;p22"/>
          <p:cNvSpPr/>
          <p:nvPr/>
        </p:nvSpPr>
        <p:spPr>
          <a:xfrm>
            <a:off x="475487" y="2423160"/>
            <a:ext cx="54865" cy="54865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 txBox="1"/>
          <p:nvPr/>
        </p:nvSpPr>
        <p:spPr>
          <a:xfrm>
            <a:off x="585215" y="2377947"/>
            <a:ext cx="370332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Executive-ready PDF reports in one click</a:t>
            </a:r>
            <a:endParaRPr/>
          </a:p>
        </p:txBody>
      </p:sp>
      <p:sp>
        <p:nvSpPr>
          <p:cNvPr id="298" name="Google Shape;298;p22"/>
          <p:cNvSpPr/>
          <p:nvPr/>
        </p:nvSpPr>
        <p:spPr>
          <a:xfrm>
            <a:off x="475487" y="2564892"/>
            <a:ext cx="54865" cy="54865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585215" y="2519679"/>
            <a:ext cx="370332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Delivery health scored in real time</a:t>
            </a:r>
            <a:endParaRPr/>
          </a:p>
        </p:txBody>
      </p:sp>
      <p:sp>
        <p:nvSpPr>
          <p:cNvPr id="300" name="Google Shape;300;p22"/>
          <p:cNvSpPr/>
          <p:nvPr/>
        </p:nvSpPr>
        <p:spPr>
          <a:xfrm>
            <a:off x="475487" y="2706623"/>
            <a:ext cx="54865" cy="54865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585215" y="2661411"/>
            <a:ext cx="370332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Auto-optimised schedule applied instantly</a:t>
            </a:r>
            <a:endParaRPr/>
          </a:p>
        </p:txBody>
      </p:sp>
      <p:sp>
        <p:nvSpPr>
          <p:cNvPr id="302" name="Google Shape;302;p22"/>
          <p:cNvSpPr/>
          <p:nvPr/>
        </p:nvSpPr>
        <p:spPr>
          <a:xfrm>
            <a:off x="4709159" y="1170432"/>
            <a:ext cx="4160521" cy="171907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4709159" y="1170432"/>
            <a:ext cx="4160521" cy="36577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4873752" y="1298447"/>
            <a:ext cx="438913" cy="438913"/>
          </a:xfrm>
          <a:prstGeom prst="ellipse">
            <a:avLst/>
          </a:prstGeom>
          <a:solidFill>
            <a:srgbClr val="FFF1F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4919472" y="1307083"/>
            <a:ext cx="347473" cy="4216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🚨</a:t>
            </a:r>
            <a:endParaRPr/>
          </a:p>
        </p:txBody>
      </p:sp>
      <p:sp>
        <p:nvSpPr>
          <p:cNvPr id="306" name="Google Shape;306;p22"/>
          <p:cNvSpPr/>
          <p:nvPr/>
        </p:nvSpPr>
        <p:spPr>
          <a:xfrm>
            <a:off x="5422391" y="1307591"/>
            <a:ext cx="1371601" cy="182881"/>
          </a:xfrm>
          <a:prstGeom prst="roundRect">
            <a:avLst>
              <a:gd fmla="val 30000" name="adj"/>
            </a:avLst>
          </a:prstGeom>
          <a:solidFill>
            <a:srgbClr val="FFF1F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>
            <a:off x="5422391" y="1335531"/>
            <a:ext cx="13716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FF3B30"/>
                </a:solidFill>
                <a:latin typeface="Calibri"/>
                <a:ea typeface="Calibri"/>
                <a:cs typeface="Calibri"/>
                <a:sym typeface="Calibri"/>
              </a:rPr>
              <a:t>DELIVERY TEAMS</a:t>
            </a:r>
            <a:endParaRPr/>
          </a:p>
        </p:txBody>
      </p:sp>
      <p:sp>
        <p:nvSpPr>
          <p:cNvPr id="308" name="Google Shape;308;p22"/>
          <p:cNvSpPr txBox="1"/>
          <p:nvPr/>
        </p:nvSpPr>
        <p:spPr>
          <a:xfrm>
            <a:off x="5422391" y="1546505"/>
            <a:ext cx="2286001" cy="2354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30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rgbClr val="FF3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Risks caught</a:t>
            </a:r>
            <a:endParaRPr/>
          </a:p>
        </p:txBody>
      </p:sp>
      <p:sp>
        <p:nvSpPr>
          <p:cNvPr id="309" name="Google Shape;309;p22"/>
          <p:cNvSpPr txBox="1"/>
          <p:nvPr/>
        </p:nvSpPr>
        <p:spPr>
          <a:xfrm>
            <a:off x="5422391" y="1845817"/>
            <a:ext cx="2286001" cy="1488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Helvetica Neue"/>
              <a:buNone/>
            </a:pPr>
            <a:r>
              <a:rPr b="0" i="0" lang="en-GB" sz="10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before they hit</a:t>
            </a:r>
            <a:endParaRPr/>
          </a:p>
        </p:txBody>
      </p:sp>
      <p:sp>
        <p:nvSpPr>
          <p:cNvPr id="310" name="Google Shape;310;p22"/>
          <p:cNvSpPr/>
          <p:nvPr/>
        </p:nvSpPr>
        <p:spPr>
          <a:xfrm>
            <a:off x="4910328" y="2139695"/>
            <a:ext cx="54865" cy="54865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 txBox="1"/>
          <p:nvPr/>
        </p:nvSpPr>
        <p:spPr>
          <a:xfrm>
            <a:off x="5020055" y="2094483"/>
            <a:ext cx="370332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Sprint blockers flagged with escalation path</a:t>
            </a:r>
            <a:endParaRPr/>
          </a:p>
        </p:txBody>
      </p:sp>
      <p:sp>
        <p:nvSpPr>
          <p:cNvPr id="312" name="Google Shape;312;p22"/>
          <p:cNvSpPr/>
          <p:nvPr/>
        </p:nvSpPr>
        <p:spPr>
          <a:xfrm>
            <a:off x="4910328" y="2281427"/>
            <a:ext cx="54865" cy="54865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 txBox="1"/>
          <p:nvPr/>
        </p:nvSpPr>
        <p:spPr>
          <a:xfrm>
            <a:off x="5020055" y="2236216"/>
            <a:ext cx="370332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Refinement gaps surfaced before sprint kickoff</a:t>
            </a:r>
            <a:endParaRPr/>
          </a:p>
        </p:txBody>
      </p:sp>
      <p:sp>
        <p:nvSpPr>
          <p:cNvPr id="314" name="Google Shape;314;p22"/>
          <p:cNvSpPr/>
          <p:nvPr/>
        </p:nvSpPr>
        <p:spPr>
          <a:xfrm>
            <a:off x="4910328" y="2423160"/>
            <a:ext cx="54865" cy="54865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 txBox="1"/>
          <p:nvPr/>
        </p:nvSpPr>
        <p:spPr>
          <a:xfrm>
            <a:off x="5020055" y="2377947"/>
            <a:ext cx="370332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Velocity forecasts signal sign-off risk today</a:t>
            </a:r>
            <a:endParaRPr/>
          </a:p>
        </p:txBody>
      </p:sp>
      <p:sp>
        <p:nvSpPr>
          <p:cNvPr id="316" name="Google Shape;316;p22"/>
          <p:cNvSpPr/>
          <p:nvPr/>
        </p:nvSpPr>
        <p:spPr>
          <a:xfrm>
            <a:off x="4910328" y="2564892"/>
            <a:ext cx="54865" cy="54865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 txBox="1"/>
          <p:nvPr/>
        </p:nvSpPr>
        <p:spPr>
          <a:xfrm>
            <a:off x="5020055" y="2519679"/>
            <a:ext cx="370332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One-click sprint optimisation</a:t>
            </a:r>
            <a:endParaRPr/>
          </a:p>
        </p:txBody>
      </p:sp>
      <p:sp>
        <p:nvSpPr>
          <p:cNvPr id="318" name="Google Shape;318;p22"/>
          <p:cNvSpPr/>
          <p:nvPr/>
        </p:nvSpPr>
        <p:spPr>
          <a:xfrm>
            <a:off x="4910328" y="2706623"/>
            <a:ext cx="54865" cy="54865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>
            <a:off x="5020055" y="2661411"/>
            <a:ext cx="370332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Story forecasting across all in-flight work</a:t>
            </a:r>
            <a:endParaRPr/>
          </a:p>
        </p:txBody>
      </p:sp>
      <p:sp>
        <p:nvSpPr>
          <p:cNvPr id="320" name="Google Shape;320;p22"/>
          <p:cNvSpPr/>
          <p:nvPr/>
        </p:nvSpPr>
        <p:spPr>
          <a:xfrm>
            <a:off x="274319" y="3044951"/>
            <a:ext cx="4160522" cy="171907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274319" y="3044951"/>
            <a:ext cx="4160522" cy="36577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438912" y="3172967"/>
            <a:ext cx="438912" cy="438913"/>
          </a:xfrm>
          <a:prstGeom prst="ellipse">
            <a:avLst/>
          </a:prstGeom>
          <a:solidFill>
            <a:srgbClr val="F0FDF4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484632" y="3181603"/>
            <a:ext cx="347473" cy="4216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🚀</a:t>
            </a:r>
            <a:endParaRPr/>
          </a:p>
        </p:txBody>
      </p:sp>
      <p:sp>
        <p:nvSpPr>
          <p:cNvPr id="324" name="Google Shape;324;p22"/>
          <p:cNvSpPr/>
          <p:nvPr/>
        </p:nvSpPr>
        <p:spPr>
          <a:xfrm>
            <a:off x="987552" y="3182111"/>
            <a:ext cx="1371601" cy="182881"/>
          </a:xfrm>
          <a:prstGeom prst="roundRect">
            <a:avLst>
              <a:gd fmla="val 30000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 txBox="1"/>
          <p:nvPr/>
        </p:nvSpPr>
        <p:spPr>
          <a:xfrm>
            <a:off x="987552" y="3210052"/>
            <a:ext cx="13716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34C759"/>
                </a:solidFill>
                <a:latin typeface="Calibri"/>
                <a:ea typeface="Calibri"/>
                <a:cs typeface="Calibri"/>
                <a:sym typeface="Calibri"/>
              </a:rPr>
              <a:t>TECH LEADS</a:t>
            </a:r>
            <a:endParaRPr/>
          </a:p>
        </p:txBody>
      </p:sp>
      <p:sp>
        <p:nvSpPr>
          <p:cNvPr id="326" name="Google Shape;326;p22"/>
          <p:cNvSpPr txBox="1"/>
          <p:nvPr/>
        </p:nvSpPr>
        <p:spPr>
          <a:xfrm>
            <a:off x="987552" y="3421024"/>
            <a:ext cx="2286001" cy="235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C759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rgbClr val="34C7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Releases ship</a:t>
            </a:r>
            <a:endParaRPr/>
          </a:p>
        </p:txBody>
      </p:sp>
      <p:sp>
        <p:nvSpPr>
          <p:cNvPr id="327" name="Google Shape;327;p22"/>
          <p:cNvSpPr txBox="1"/>
          <p:nvPr/>
        </p:nvSpPr>
        <p:spPr>
          <a:xfrm>
            <a:off x="987552" y="3720338"/>
            <a:ext cx="2286001" cy="1488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Helvetica Neue"/>
              <a:buNone/>
            </a:pPr>
            <a:r>
              <a:rPr b="0" i="0" lang="en-GB" sz="10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confidence</a:t>
            </a:r>
            <a:endParaRPr/>
          </a:p>
        </p:txBody>
      </p:sp>
      <p:sp>
        <p:nvSpPr>
          <p:cNvPr id="328" name="Google Shape;328;p22"/>
          <p:cNvSpPr/>
          <p:nvPr/>
        </p:nvSpPr>
        <p:spPr>
          <a:xfrm>
            <a:off x="475487" y="4014215"/>
            <a:ext cx="54865" cy="54865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2"/>
          <p:cNvSpPr txBox="1"/>
          <p:nvPr/>
        </p:nvSpPr>
        <p:spPr>
          <a:xfrm>
            <a:off x="585215" y="3969004"/>
            <a:ext cx="370332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Readiness validated across all environments</a:t>
            </a:r>
            <a:endParaRPr/>
          </a:p>
        </p:txBody>
      </p:sp>
      <p:sp>
        <p:nvSpPr>
          <p:cNvPr id="330" name="Google Shape;330;p22"/>
          <p:cNvSpPr/>
          <p:nvPr/>
        </p:nvSpPr>
        <p:spPr>
          <a:xfrm>
            <a:off x="475487" y="4155947"/>
            <a:ext cx="54865" cy="54865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2"/>
          <p:cNvSpPr txBox="1"/>
          <p:nvPr/>
        </p:nvSpPr>
        <p:spPr>
          <a:xfrm>
            <a:off x="585215" y="4110736"/>
            <a:ext cx="370332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Optimal deploy window recommended by AI</a:t>
            </a:r>
            <a:endParaRPr/>
          </a:p>
        </p:txBody>
      </p:sp>
      <p:sp>
        <p:nvSpPr>
          <p:cNvPr id="332" name="Google Shape;332;p22"/>
          <p:cNvSpPr/>
          <p:nvPr/>
        </p:nvSpPr>
        <p:spPr>
          <a:xfrm>
            <a:off x="475487" y="4297679"/>
            <a:ext cx="54865" cy="54865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2"/>
          <p:cNvSpPr txBox="1"/>
          <p:nvPr/>
        </p:nvSpPr>
        <p:spPr>
          <a:xfrm>
            <a:off x="585215" y="4252467"/>
            <a:ext cx="370332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Pre-built rollback runbook before every release</a:t>
            </a:r>
            <a:endParaRPr/>
          </a:p>
        </p:txBody>
      </p:sp>
      <p:sp>
        <p:nvSpPr>
          <p:cNvPr id="334" name="Google Shape;334;p22"/>
          <p:cNvSpPr/>
          <p:nvPr/>
        </p:nvSpPr>
        <p:spPr>
          <a:xfrm>
            <a:off x="475487" y="4439411"/>
            <a:ext cx="54865" cy="54865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2"/>
          <p:cNvSpPr txBox="1"/>
          <p:nvPr/>
        </p:nvSpPr>
        <p:spPr>
          <a:xfrm>
            <a:off x="585215" y="4394199"/>
            <a:ext cx="370332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 SLA violations surfaced early</a:t>
            </a:r>
            <a:endParaRPr/>
          </a:p>
        </p:txBody>
      </p:sp>
      <p:sp>
        <p:nvSpPr>
          <p:cNvPr id="336" name="Google Shape;336;p22"/>
          <p:cNvSpPr/>
          <p:nvPr/>
        </p:nvSpPr>
        <p:spPr>
          <a:xfrm>
            <a:off x="475487" y="4581144"/>
            <a:ext cx="54865" cy="54865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2"/>
          <p:cNvSpPr txBox="1"/>
          <p:nvPr/>
        </p:nvSpPr>
        <p:spPr>
          <a:xfrm>
            <a:off x="585215" y="4535932"/>
            <a:ext cx="370332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Pipeline health tracked end-to-end</a:t>
            </a:r>
            <a:endParaRPr/>
          </a:p>
        </p:txBody>
      </p:sp>
      <p:sp>
        <p:nvSpPr>
          <p:cNvPr id="338" name="Google Shape;338;p22"/>
          <p:cNvSpPr/>
          <p:nvPr/>
        </p:nvSpPr>
        <p:spPr>
          <a:xfrm>
            <a:off x="4709159" y="3044951"/>
            <a:ext cx="4160521" cy="171907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4709159" y="3044951"/>
            <a:ext cx="4160521" cy="36577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4873752" y="3172967"/>
            <a:ext cx="438913" cy="438913"/>
          </a:xfrm>
          <a:prstGeom prst="ellipse">
            <a:avLst/>
          </a:prstGeom>
          <a:solidFill>
            <a:srgbClr val="F5F3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4919472" y="3181603"/>
            <a:ext cx="347473" cy="4216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🔒</a:t>
            </a:r>
            <a:endParaRPr/>
          </a:p>
        </p:txBody>
      </p:sp>
      <p:sp>
        <p:nvSpPr>
          <p:cNvPr id="342" name="Google Shape;342;p22"/>
          <p:cNvSpPr/>
          <p:nvPr/>
        </p:nvSpPr>
        <p:spPr>
          <a:xfrm>
            <a:off x="5422391" y="3182111"/>
            <a:ext cx="1371601" cy="182881"/>
          </a:xfrm>
          <a:prstGeom prst="roundRect">
            <a:avLst>
              <a:gd fmla="val 30000" name="adj"/>
            </a:avLst>
          </a:prstGeom>
          <a:solidFill>
            <a:srgbClr val="F5F3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2"/>
          <p:cNvSpPr txBox="1"/>
          <p:nvPr/>
        </p:nvSpPr>
        <p:spPr>
          <a:xfrm>
            <a:off x="5422391" y="3210052"/>
            <a:ext cx="13716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6D6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5856D6"/>
                </a:solidFill>
                <a:latin typeface="Calibri"/>
                <a:ea typeface="Calibri"/>
                <a:cs typeface="Calibri"/>
                <a:sym typeface="Calibri"/>
              </a:rPr>
              <a:t>WHOLE TEAM</a:t>
            </a:r>
            <a:endParaRPr/>
          </a:p>
        </p:txBody>
      </p:sp>
      <p:sp>
        <p:nvSpPr>
          <p:cNvPr id="344" name="Google Shape;344;p22"/>
          <p:cNvSpPr txBox="1"/>
          <p:nvPr/>
        </p:nvSpPr>
        <p:spPr>
          <a:xfrm>
            <a:off x="5422391" y="3421024"/>
            <a:ext cx="2286001" cy="235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6D6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rgbClr val="5856D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Quality enforced</a:t>
            </a:r>
            <a:endParaRPr/>
          </a:p>
        </p:txBody>
      </p:sp>
      <p:sp>
        <p:nvSpPr>
          <p:cNvPr id="345" name="Google Shape;345;p22"/>
          <p:cNvSpPr txBox="1"/>
          <p:nvPr/>
        </p:nvSpPr>
        <p:spPr>
          <a:xfrm>
            <a:off x="5422391" y="3720338"/>
            <a:ext cx="2286001" cy="1488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000"/>
              <a:buFont typeface="Helvetica Neue"/>
              <a:buNone/>
            </a:pPr>
            <a:r>
              <a:rPr b="0" i="0" lang="en-GB" sz="10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continuously</a:t>
            </a:r>
            <a:endParaRPr/>
          </a:p>
        </p:txBody>
      </p:sp>
      <p:sp>
        <p:nvSpPr>
          <p:cNvPr id="346" name="Google Shape;346;p22"/>
          <p:cNvSpPr/>
          <p:nvPr/>
        </p:nvSpPr>
        <p:spPr>
          <a:xfrm>
            <a:off x="4910328" y="4014215"/>
            <a:ext cx="54865" cy="54865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 txBox="1"/>
          <p:nvPr/>
        </p:nvSpPr>
        <p:spPr>
          <a:xfrm>
            <a:off x="5020055" y="3969004"/>
            <a:ext cx="370332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CVEs prioritised by release impact</a:t>
            </a:r>
            <a:endParaRPr/>
          </a:p>
        </p:txBody>
      </p:sp>
      <p:sp>
        <p:nvSpPr>
          <p:cNvPr id="348" name="Google Shape;348;p22"/>
          <p:cNvSpPr/>
          <p:nvPr/>
        </p:nvSpPr>
        <p:spPr>
          <a:xfrm>
            <a:off x="4910328" y="4155947"/>
            <a:ext cx="54865" cy="54865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2"/>
          <p:cNvSpPr txBox="1"/>
          <p:nvPr/>
        </p:nvSpPr>
        <p:spPr>
          <a:xfrm>
            <a:off x="5020055" y="4110736"/>
            <a:ext cx="370332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fix plan — what to resolve first</a:t>
            </a:r>
            <a:endParaRPr/>
          </a:p>
        </p:txBody>
      </p:sp>
      <p:sp>
        <p:nvSpPr>
          <p:cNvPr id="350" name="Google Shape;350;p22"/>
          <p:cNvSpPr/>
          <p:nvPr/>
        </p:nvSpPr>
        <p:spPr>
          <a:xfrm>
            <a:off x="4910328" y="4297679"/>
            <a:ext cx="54865" cy="54865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5020055" y="4252467"/>
            <a:ext cx="370332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Compliance report generated instantly</a:t>
            </a:r>
            <a:endParaRPr/>
          </a:p>
        </p:txBody>
      </p:sp>
      <p:sp>
        <p:nvSpPr>
          <p:cNvPr id="352" name="Google Shape;352;p22"/>
          <p:cNvSpPr/>
          <p:nvPr/>
        </p:nvSpPr>
        <p:spPr>
          <a:xfrm>
            <a:off x="4910328" y="4439411"/>
            <a:ext cx="54865" cy="54865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>
            <a:off x="5020055" y="4394199"/>
            <a:ext cx="370332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Bottlenecks with root cause analysis</a:t>
            </a:r>
            <a:endParaRPr/>
          </a:p>
        </p:txBody>
      </p:sp>
      <p:sp>
        <p:nvSpPr>
          <p:cNvPr id="354" name="Google Shape;354;p22"/>
          <p:cNvSpPr/>
          <p:nvPr/>
        </p:nvSpPr>
        <p:spPr>
          <a:xfrm>
            <a:off x="4910328" y="4581144"/>
            <a:ext cx="54865" cy="54865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2"/>
          <p:cNvSpPr txBox="1"/>
          <p:nvPr/>
        </p:nvSpPr>
        <p:spPr>
          <a:xfrm>
            <a:off x="5020055" y="4535932"/>
            <a:ext cx="3703322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Security audit on demand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3"/>
          <p:cNvSpPr/>
          <p:nvPr/>
        </p:nvSpPr>
        <p:spPr>
          <a:xfrm>
            <a:off x="0" y="-1"/>
            <a:ext cx="9144000" cy="3657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3"/>
          <p:cNvSpPr txBox="1"/>
          <p:nvPr/>
        </p:nvSpPr>
        <p:spPr>
          <a:xfrm>
            <a:off x="502919" y="151263"/>
            <a:ext cx="8138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500"/>
              </a:buClr>
              <a:buSzPts val="900"/>
              <a:buFont typeface="Helvetica Neue"/>
              <a:buNone/>
            </a:pPr>
            <a:r>
              <a:rPr b="1" i="0" lang="en-GB" sz="900" u="none" cap="none" strike="noStrike">
                <a:solidFill>
                  <a:srgbClr val="FF95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CAPABILITIES</a:t>
            </a:r>
            <a:endParaRPr/>
          </a:p>
        </p:txBody>
      </p:sp>
      <p:sp>
        <p:nvSpPr>
          <p:cNvPr id="362" name="Google Shape;362;p23"/>
          <p:cNvSpPr txBox="1"/>
          <p:nvPr/>
        </p:nvSpPr>
        <p:spPr>
          <a:xfrm>
            <a:off x="502919" y="381242"/>
            <a:ext cx="8138161" cy="426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200"/>
              <a:buFont typeface="Helvetica Neue"/>
              <a:buNone/>
            </a:pPr>
            <a:r>
              <a:rPr b="1" i="0" lang="en-GB" sz="22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Everything else Arc AI does for you.</a:t>
            </a:r>
            <a:endParaRPr/>
          </a:p>
        </p:txBody>
      </p:sp>
      <p:sp>
        <p:nvSpPr>
          <p:cNvPr id="363" name="Google Shape;363;p23"/>
          <p:cNvSpPr/>
          <p:nvPr/>
        </p:nvSpPr>
        <p:spPr>
          <a:xfrm>
            <a:off x="274319" y="950976"/>
            <a:ext cx="2788922" cy="17556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274319" y="950975"/>
            <a:ext cx="2788922" cy="36577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3"/>
          <p:cNvSpPr/>
          <p:nvPr/>
        </p:nvSpPr>
        <p:spPr>
          <a:xfrm>
            <a:off x="420623" y="1078991"/>
            <a:ext cx="347473" cy="347473"/>
          </a:xfrm>
          <a:prstGeom prst="ellipse">
            <a:avLst/>
          </a:prstGeom>
          <a:solidFill>
            <a:srgbClr val="007AFF">
              <a:alpha val="12156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3"/>
          <p:cNvSpPr txBox="1"/>
          <p:nvPr/>
        </p:nvSpPr>
        <p:spPr>
          <a:xfrm>
            <a:off x="466343" y="1060957"/>
            <a:ext cx="256033" cy="383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📅</a:t>
            </a:r>
            <a:endParaRPr/>
          </a:p>
        </p:txBody>
      </p:sp>
      <p:sp>
        <p:nvSpPr>
          <p:cNvPr id="367" name="Google Shape;367;p23"/>
          <p:cNvSpPr txBox="1"/>
          <p:nvPr/>
        </p:nvSpPr>
        <p:spPr>
          <a:xfrm>
            <a:off x="841247" y="1159688"/>
            <a:ext cx="2084834" cy="18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Helvetica Neue"/>
              <a:buNone/>
            </a:pPr>
            <a:r>
              <a:rPr b="1" i="0" lang="en-GB" sz="12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Sprint Planning</a:t>
            </a:r>
            <a:endParaRPr/>
          </a:p>
        </p:txBody>
      </p:sp>
      <p:sp>
        <p:nvSpPr>
          <p:cNvPr id="368" name="Google Shape;368;p23"/>
          <p:cNvSpPr/>
          <p:nvPr/>
        </p:nvSpPr>
        <p:spPr>
          <a:xfrm>
            <a:off x="420623" y="1517040"/>
            <a:ext cx="2487169" cy="12701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3"/>
          <p:cNvSpPr/>
          <p:nvPr/>
        </p:nvSpPr>
        <p:spPr>
          <a:xfrm>
            <a:off x="457200" y="1664207"/>
            <a:ext cx="54864" cy="54865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3"/>
          <p:cNvSpPr txBox="1"/>
          <p:nvPr/>
        </p:nvSpPr>
        <p:spPr>
          <a:xfrm>
            <a:off x="566927" y="1620591"/>
            <a:ext cx="2359154" cy="288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Change request impact on sprint capacity before approval</a:t>
            </a:r>
            <a:endParaRPr/>
          </a:p>
        </p:txBody>
      </p:sp>
      <p:sp>
        <p:nvSpPr>
          <p:cNvPr id="371" name="Google Shape;371;p23"/>
          <p:cNvSpPr/>
          <p:nvPr/>
        </p:nvSpPr>
        <p:spPr>
          <a:xfrm>
            <a:off x="457200" y="1993392"/>
            <a:ext cx="54864" cy="54865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566927" y="2030476"/>
            <a:ext cx="2359154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Dependency conflict detection across epics</a:t>
            </a:r>
            <a:endParaRPr/>
          </a:p>
        </p:txBody>
      </p:sp>
      <p:sp>
        <p:nvSpPr>
          <p:cNvPr id="373" name="Google Shape;373;p23"/>
          <p:cNvSpPr/>
          <p:nvPr/>
        </p:nvSpPr>
        <p:spPr>
          <a:xfrm>
            <a:off x="457200" y="2322576"/>
            <a:ext cx="54864" cy="54865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3"/>
          <p:cNvSpPr txBox="1"/>
          <p:nvPr/>
        </p:nvSpPr>
        <p:spPr>
          <a:xfrm>
            <a:off x="566927" y="2359660"/>
            <a:ext cx="2359154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Quality gate tracking vs sign-off deadlines</a:t>
            </a:r>
            <a:endParaRPr/>
          </a:p>
        </p:txBody>
      </p:sp>
      <p:sp>
        <p:nvSpPr>
          <p:cNvPr id="375" name="Google Shape;375;p23"/>
          <p:cNvSpPr/>
          <p:nvPr/>
        </p:nvSpPr>
        <p:spPr>
          <a:xfrm>
            <a:off x="3218688" y="950976"/>
            <a:ext cx="2788921" cy="17556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3218688" y="950975"/>
            <a:ext cx="2788921" cy="36577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3364991" y="1078991"/>
            <a:ext cx="347473" cy="347473"/>
          </a:xfrm>
          <a:prstGeom prst="ellipse">
            <a:avLst/>
          </a:prstGeom>
          <a:solidFill>
            <a:srgbClr val="FF3B30">
              <a:alpha val="12156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3"/>
          <p:cNvSpPr txBox="1"/>
          <p:nvPr/>
        </p:nvSpPr>
        <p:spPr>
          <a:xfrm>
            <a:off x="3410711" y="1060957"/>
            <a:ext cx="256033" cy="383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🔍</a:t>
            </a:r>
            <a:endParaRPr/>
          </a:p>
        </p:txBody>
      </p:sp>
      <p:sp>
        <p:nvSpPr>
          <p:cNvPr id="379" name="Google Shape;379;p23"/>
          <p:cNvSpPr txBox="1"/>
          <p:nvPr/>
        </p:nvSpPr>
        <p:spPr>
          <a:xfrm>
            <a:off x="3785615" y="1159688"/>
            <a:ext cx="2084833" cy="18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Helvetica Neue"/>
              <a:buNone/>
            </a:pPr>
            <a:r>
              <a:rPr b="1" i="0" lang="en-GB" sz="12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Quality</a:t>
            </a:r>
            <a:endParaRPr/>
          </a:p>
        </p:txBody>
      </p:sp>
      <p:sp>
        <p:nvSpPr>
          <p:cNvPr id="380" name="Google Shape;380;p23"/>
          <p:cNvSpPr/>
          <p:nvPr/>
        </p:nvSpPr>
        <p:spPr>
          <a:xfrm>
            <a:off x="3364991" y="1517040"/>
            <a:ext cx="2487169" cy="12701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3"/>
          <p:cNvSpPr/>
          <p:nvPr/>
        </p:nvSpPr>
        <p:spPr>
          <a:xfrm>
            <a:off x="3401567" y="1664207"/>
            <a:ext cx="54865" cy="54865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3"/>
          <p:cNvSpPr txBox="1"/>
          <p:nvPr/>
        </p:nvSpPr>
        <p:spPr>
          <a:xfrm>
            <a:off x="3511296" y="1620591"/>
            <a:ext cx="2359153" cy="288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Hardcoded secret &amp; credential detection in commits</a:t>
            </a:r>
            <a:endParaRPr/>
          </a:p>
        </p:txBody>
      </p:sp>
      <p:sp>
        <p:nvSpPr>
          <p:cNvPr id="383" name="Google Shape;383;p23"/>
          <p:cNvSpPr/>
          <p:nvPr/>
        </p:nvSpPr>
        <p:spPr>
          <a:xfrm>
            <a:off x="3401567" y="1993392"/>
            <a:ext cx="54865" cy="54865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3"/>
          <p:cNvSpPr txBox="1"/>
          <p:nvPr/>
        </p:nvSpPr>
        <p:spPr>
          <a:xfrm>
            <a:off x="3511296" y="2030476"/>
            <a:ext cx="2359153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ESLint + SonarQube + Fortify unified into one view</a:t>
            </a:r>
            <a:endParaRPr/>
          </a:p>
        </p:txBody>
      </p:sp>
      <p:sp>
        <p:nvSpPr>
          <p:cNvPr id="385" name="Google Shape;385;p23"/>
          <p:cNvSpPr/>
          <p:nvPr/>
        </p:nvSpPr>
        <p:spPr>
          <a:xfrm>
            <a:off x="3401567" y="2322576"/>
            <a:ext cx="54865" cy="54865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3"/>
          <p:cNvSpPr txBox="1"/>
          <p:nvPr/>
        </p:nvSpPr>
        <p:spPr>
          <a:xfrm>
            <a:off x="3511296" y="2359660"/>
            <a:ext cx="2359153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 time estimation to clear all release blockers</a:t>
            </a:r>
            <a:endParaRPr/>
          </a:p>
        </p:txBody>
      </p:sp>
      <p:sp>
        <p:nvSpPr>
          <p:cNvPr id="387" name="Google Shape;387;p23"/>
          <p:cNvSpPr/>
          <p:nvPr/>
        </p:nvSpPr>
        <p:spPr>
          <a:xfrm>
            <a:off x="6163055" y="950976"/>
            <a:ext cx="2788922" cy="17556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6163055" y="950975"/>
            <a:ext cx="2788922" cy="36577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6309359" y="1078991"/>
            <a:ext cx="347473" cy="347473"/>
          </a:xfrm>
          <a:prstGeom prst="ellipse">
            <a:avLst/>
          </a:prstGeom>
          <a:solidFill>
            <a:srgbClr val="34C759">
              <a:alpha val="12156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3"/>
          <p:cNvSpPr txBox="1"/>
          <p:nvPr/>
        </p:nvSpPr>
        <p:spPr>
          <a:xfrm>
            <a:off x="6355079" y="1060957"/>
            <a:ext cx="256033" cy="383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🚀</a:t>
            </a:r>
            <a:endParaRPr/>
          </a:p>
        </p:txBody>
      </p:sp>
      <p:sp>
        <p:nvSpPr>
          <p:cNvPr id="391" name="Google Shape;391;p23"/>
          <p:cNvSpPr txBox="1"/>
          <p:nvPr/>
        </p:nvSpPr>
        <p:spPr>
          <a:xfrm>
            <a:off x="6729983" y="1159688"/>
            <a:ext cx="2084833" cy="18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Helvetica Neue"/>
              <a:buNone/>
            </a:pPr>
            <a:r>
              <a:rPr b="1" i="0" lang="en-GB" sz="12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Deployments</a:t>
            </a:r>
            <a:endParaRPr/>
          </a:p>
        </p:txBody>
      </p:sp>
      <p:sp>
        <p:nvSpPr>
          <p:cNvPr id="392" name="Google Shape;392;p23"/>
          <p:cNvSpPr/>
          <p:nvPr/>
        </p:nvSpPr>
        <p:spPr>
          <a:xfrm>
            <a:off x="6309359" y="1517040"/>
            <a:ext cx="2487169" cy="12701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3"/>
          <p:cNvSpPr/>
          <p:nvPr/>
        </p:nvSpPr>
        <p:spPr>
          <a:xfrm>
            <a:off x="6345935" y="1664207"/>
            <a:ext cx="54865" cy="54865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3"/>
          <p:cNvSpPr txBox="1"/>
          <p:nvPr/>
        </p:nvSpPr>
        <p:spPr>
          <a:xfrm>
            <a:off x="6455664" y="1620591"/>
            <a:ext cx="2359153" cy="288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availability aware deploy window recommendations</a:t>
            </a:r>
            <a:endParaRPr/>
          </a:p>
        </p:txBody>
      </p:sp>
      <p:sp>
        <p:nvSpPr>
          <p:cNvPr id="395" name="Google Shape;395;p23"/>
          <p:cNvSpPr/>
          <p:nvPr/>
        </p:nvSpPr>
        <p:spPr>
          <a:xfrm>
            <a:off x="6345935" y="1993392"/>
            <a:ext cx="54865" cy="54865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3"/>
          <p:cNvSpPr txBox="1"/>
          <p:nvPr/>
        </p:nvSpPr>
        <p:spPr>
          <a:xfrm>
            <a:off x="6455664" y="2030476"/>
            <a:ext cx="2359153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Automated rollback on error rate threshold breach</a:t>
            </a:r>
            <a:endParaRPr/>
          </a:p>
        </p:txBody>
      </p:sp>
      <p:sp>
        <p:nvSpPr>
          <p:cNvPr id="397" name="Google Shape;397;p23"/>
          <p:cNvSpPr/>
          <p:nvPr/>
        </p:nvSpPr>
        <p:spPr>
          <a:xfrm>
            <a:off x="6345935" y="2322576"/>
            <a:ext cx="54865" cy="54865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3"/>
          <p:cNvSpPr txBox="1"/>
          <p:nvPr/>
        </p:nvSpPr>
        <p:spPr>
          <a:xfrm>
            <a:off x="6455664" y="2359660"/>
            <a:ext cx="2359153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migration impact check before rollback</a:t>
            </a:r>
            <a:endParaRPr/>
          </a:p>
        </p:txBody>
      </p:sp>
      <p:sp>
        <p:nvSpPr>
          <p:cNvPr id="399" name="Google Shape;399;p23"/>
          <p:cNvSpPr/>
          <p:nvPr/>
        </p:nvSpPr>
        <p:spPr>
          <a:xfrm>
            <a:off x="274319" y="2852927"/>
            <a:ext cx="2788922" cy="17556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3"/>
          <p:cNvSpPr/>
          <p:nvPr/>
        </p:nvSpPr>
        <p:spPr>
          <a:xfrm>
            <a:off x="274319" y="2852927"/>
            <a:ext cx="2788922" cy="36577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420623" y="2980944"/>
            <a:ext cx="347473" cy="347473"/>
          </a:xfrm>
          <a:prstGeom prst="ellipse">
            <a:avLst/>
          </a:prstGeom>
          <a:solidFill>
            <a:srgbClr val="5856D6">
              <a:alpha val="12156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 txBox="1"/>
          <p:nvPr/>
        </p:nvSpPr>
        <p:spPr>
          <a:xfrm>
            <a:off x="466343" y="2962909"/>
            <a:ext cx="256033" cy="383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📊</a:t>
            </a:r>
            <a:endParaRPr/>
          </a:p>
        </p:txBody>
      </p:sp>
      <p:sp>
        <p:nvSpPr>
          <p:cNvPr id="403" name="Google Shape;403;p23"/>
          <p:cNvSpPr txBox="1"/>
          <p:nvPr/>
        </p:nvSpPr>
        <p:spPr>
          <a:xfrm>
            <a:off x="841247" y="3061640"/>
            <a:ext cx="2084834" cy="18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Helvetica Neue"/>
              <a:buNone/>
            </a:pPr>
            <a:r>
              <a:rPr b="1" i="0" lang="en-GB" sz="12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Leadership &amp; Compliance</a:t>
            </a:r>
            <a:endParaRPr/>
          </a:p>
        </p:txBody>
      </p:sp>
      <p:sp>
        <p:nvSpPr>
          <p:cNvPr id="404" name="Google Shape;404;p23"/>
          <p:cNvSpPr/>
          <p:nvPr/>
        </p:nvSpPr>
        <p:spPr>
          <a:xfrm>
            <a:off x="420623" y="3418992"/>
            <a:ext cx="2487169" cy="12701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457200" y="3566159"/>
            <a:ext cx="54864" cy="54865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3"/>
          <p:cNvSpPr txBox="1"/>
          <p:nvPr/>
        </p:nvSpPr>
        <p:spPr>
          <a:xfrm>
            <a:off x="566927" y="3603244"/>
            <a:ext cx="2359154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DORA metrics — frequency, lead time, MTTR, CFR</a:t>
            </a:r>
            <a:endParaRPr/>
          </a:p>
        </p:txBody>
      </p:sp>
      <p:sp>
        <p:nvSpPr>
          <p:cNvPr id="407" name="Google Shape;407;p23"/>
          <p:cNvSpPr/>
          <p:nvPr/>
        </p:nvSpPr>
        <p:spPr>
          <a:xfrm>
            <a:off x="457200" y="3895344"/>
            <a:ext cx="54864" cy="54865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3"/>
          <p:cNvSpPr txBox="1"/>
          <p:nvPr/>
        </p:nvSpPr>
        <p:spPr>
          <a:xfrm>
            <a:off x="566927" y="3851726"/>
            <a:ext cx="2359154" cy="288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audit event log — every LLM call logged &amp; isolated</a:t>
            </a:r>
            <a:endParaRPr/>
          </a:p>
        </p:txBody>
      </p:sp>
      <p:sp>
        <p:nvSpPr>
          <p:cNvPr id="409" name="Google Shape;409;p23"/>
          <p:cNvSpPr/>
          <p:nvPr/>
        </p:nvSpPr>
        <p:spPr>
          <a:xfrm>
            <a:off x="457200" y="4224528"/>
            <a:ext cx="54864" cy="54865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3"/>
          <p:cNvSpPr txBox="1"/>
          <p:nvPr/>
        </p:nvSpPr>
        <p:spPr>
          <a:xfrm>
            <a:off x="566927" y="4261611"/>
            <a:ext cx="2359154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Multi-region failover under 5 minutes</a:t>
            </a:r>
            <a:endParaRPr/>
          </a:p>
        </p:txBody>
      </p:sp>
      <p:sp>
        <p:nvSpPr>
          <p:cNvPr id="411" name="Google Shape;411;p23"/>
          <p:cNvSpPr/>
          <p:nvPr/>
        </p:nvSpPr>
        <p:spPr>
          <a:xfrm>
            <a:off x="3218688" y="2852927"/>
            <a:ext cx="2788921" cy="17556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3"/>
          <p:cNvSpPr/>
          <p:nvPr/>
        </p:nvSpPr>
        <p:spPr>
          <a:xfrm>
            <a:off x="3218688" y="2852927"/>
            <a:ext cx="2788921" cy="36577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3"/>
          <p:cNvSpPr/>
          <p:nvPr/>
        </p:nvSpPr>
        <p:spPr>
          <a:xfrm>
            <a:off x="3364991" y="2980944"/>
            <a:ext cx="347473" cy="347473"/>
          </a:xfrm>
          <a:prstGeom prst="ellipse">
            <a:avLst/>
          </a:prstGeom>
          <a:solidFill>
            <a:srgbClr val="0891B2">
              <a:alpha val="12156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3"/>
          <p:cNvSpPr txBox="1"/>
          <p:nvPr/>
        </p:nvSpPr>
        <p:spPr>
          <a:xfrm>
            <a:off x="3410711" y="2962909"/>
            <a:ext cx="256033" cy="383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⚙️</a:t>
            </a:r>
            <a:endParaRPr/>
          </a:p>
        </p:txBody>
      </p:sp>
      <p:sp>
        <p:nvSpPr>
          <p:cNvPr id="415" name="Google Shape;415;p23"/>
          <p:cNvSpPr txBox="1"/>
          <p:nvPr/>
        </p:nvSpPr>
        <p:spPr>
          <a:xfrm>
            <a:off x="3785615" y="3061640"/>
            <a:ext cx="2084833" cy="18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Helvetica Neue"/>
              <a:buNone/>
            </a:pPr>
            <a:r>
              <a:rPr b="1" i="0" lang="en-GB" sz="12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&amp; Platform</a:t>
            </a:r>
            <a:endParaRPr/>
          </a:p>
        </p:txBody>
      </p:sp>
      <p:sp>
        <p:nvSpPr>
          <p:cNvPr id="416" name="Google Shape;416;p23"/>
          <p:cNvSpPr/>
          <p:nvPr/>
        </p:nvSpPr>
        <p:spPr>
          <a:xfrm>
            <a:off x="3364991" y="3418992"/>
            <a:ext cx="2487169" cy="12701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3"/>
          <p:cNvSpPr/>
          <p:nvPr/>
        </p:nvSpPr>
        <p:spPr>
          <a:xfrm>
            <a:off x="3401567" y="3566159"/>
            <a:ext cx="54865" cy="54865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3"/>
          <p:cNvSpPr txBox="1"/>
          <p:nvPr/>
        </p:nvSpPr>
        <p:spPr>
          <a:xfrm>
            <a:off x="3511296" y="3603244"/>
            <a:ext cx="2359153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Trains on your historical retros &amp; reports over time</a:t>
            </a:r>
            <a:endParaRPr/>
          </a:p>
        </p:txBody>
      </p:sp>
      <p:sp>
        <p:nvSpPr>
          <p:cNvPr id="419" name="Google Shape;419;p23"/>
          <p:cNvSpPr/>
          <p:nvPr/>
        </p:nvSpPr>
        <p:spPr>
          <a:xfrm>
            <a:off x="3401567" y="3895344"/>
            <a:ext cx="54865" cy="54865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3511296" y="3932427"/>
            <a:ext cx="2359153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SSO via Google, Okta, Azure AD — no extra login</a:t>
            </a:r>
            <a:endParaRPr/>
          </a:p>
        </p:txBody>
      </p:sp>
      <p:sp>
        <p:nvSpPr>
          <p:cNvPr id="421" name="Google Shape;421;p23"/>
          <p:cNvSpPr/>
          <p:nvPr/>
        </p:nvSpPr>
        <p:spPr>
          <a:xfrm>
            <a:off x="3401567" y="4224528"/>
            <a:ext cx="54865" cy="54865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3511296" y="4261611"/>
            <a:ext cx="2359153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Incremental AI training without losing prior context</a:t>
            </a:r>
            <a:endParaRPr/>
          </a:p>
        </p:txBody>
      </p:sp>
      <p:sp>
        <p:nvSpPr>
          <p:cNvPr id="423" name="Google Shape;423;p23"/>
          <p:cNvSpPr/>
          <p:nvPr/>
        </p:nvSpPr>
        <p:spPr>
          <a:xfrm>
            <a:off x="6163055" y="2852927"/>
            <a:ext cx="2788922" cy="17556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2D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dir="8100000" dist="25400">
              <a:srgbClr val="000000">
                <a:alpha val="7058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3"/>
          <p:cNvSpPr/>
          <p:nvPr/>
        </p:nvSpPr>
        <p:spPr>
          <a:xfrm>
            <a:off x="6163055" y="2852927"/>
            <a:ext cx="2788922" cy="36577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6309359" y="2980944"/>
            <a:ext cx="347473" cy="347473"/>
          </a:xfrm>
          <a:prstGeom prst="ellipse">
            <a:avLst/>
          </a:prstGeom>
          <a:solidFill>
            <a:srgbClr val="FF9500">
              <a:alpha val="12156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6355079" y="2962909"/>
            <a:ext cx="256033" cy="383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📋</a:t>
            </a:r>
            <a:endParaRPr/>
          </a:p>
        </p:txBody>
      </p:sp>
      <p:sp>
        <p:nvSpPr>
          <p:cNvPr id="427" name="Google Shape;427;p23"/>
          <p:cNvSpPr txBox="1"/>
          <p:nvPr/>
        </p:nvSpPr>
        <p:spPr>
          <a:xfrm>
            <a:off x="6729983" y="3061640"/>
            <a:ext cx="2084833" cy="18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200"/>
              <a:buFont typeface="Helvetica Neue"/>
              <a:buNone/>
            </a:pPr>
            <a:r>
              <a:rPr b="1" i="0" lang="en-GB" sz="1200" u="none" cap="none" strike="noStrike">
                <a:solidFill>
                  <a:srgbClr val="1D1D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Reporting</a:t>
            </a:r>
            <a:endParaRPr/>
          </a:p>
        </p:txBody>
      </p:sp>
      <p:sp>
        <p:nvSpPr>
          <p:cNvPr id="428" name="Google Shape;428;p23"/>
          <p:cNvSpPr/>
          <p:nvPr/>
        </p:nvSpPr>
        <p:spPr>
          <a:xfrm>
            <a:off x="6309359" y="3418992"/>
            <a:ext cx="2487169" cy="12701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3"/>
          <p:cNvSpPr/>
          <p:nvPr/>
        </p:nvSpPr>
        <p:spPr>
          <a:xfrm>
            <a:off x="6345935" y="3566159"/>
            <a:ext cx="54865" cy="54865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6455664" y="3603244"/>
            <a:ext cx="2359153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Delivery Analysis Agent — zero manual effort</a:t>
            </a:r>
            <a:endParaRPr/>
          </a:p>
        </p:txBody>
      </p:sp>
      <p:sp>
        <p:nvSpPr>
          <p:cNvPr id="431" name="Google Shape;431;p23"/>
          <p:cNvSpPr/>
          <p:nvPr/>
        </p:nvSpPr>
        <p:spPr>
          <a:xfrm>
            <a:off x="6345935" y="3895344"/>
            <a:ext cx="54865" cy="54865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6455664" y="3932427"/>
            <a:ext cx="2359153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Downloadable executive PDF from any screen</a:t>
            </a:r>
            <a:endParaRPr/>
          </a:p>
        </p:txBody>
      </p:sp>
      <p:sp>
        <p:nvSpPr>
          <p:cNvPr id="433" name="Google Shape;433;p23"/>
          <p:cNvSpPr/>
          <p:nvPr/>
        </p:nvSpPr>
        <p:spPr>
          <a:xfrm>
            <a:off x="6345935" y="4224528"/>
            <a:ext cx="54865" cy="54865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3"/>
          <p:cNvSpPr txBox="1"/>
          <p:nvPr/>
        </p:nvSpPr>
        <p:spPr>
          <a:xfrm>
            <a:off x="6455664" y="4261611"/>
            <a:ext cx="2359153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C"/>
              </a:buClr>
              <a:buSzPts val="800"/>
              <a:buFont typeface="Helvetica Neue"/>
              <a:buNone/>
            </a:pPr>
            <a:r>
              <a:rPr b="0" i="0" lang="en-GB" sz="800" u="none" cap="none" strike="noStrike">
                <a:solidFill>
                  <a:srgbClr val="3A3A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Share-ready compliance report generated instantly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4"/>
          <p:cNvSpPr txBox="1"/>
          <p:nvPr/>
        </p:nvSpPr>
        <p:spPr>
          <a:xfrm>
            <a:off x="2955481" y="2281621"/>
            <a:ext cx="2369567" cy="550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</a:pPr>
            <a:r>
              <a:rPr b="1" i="0" lang="en-GB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you…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